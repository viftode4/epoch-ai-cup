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9C5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8046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7F1E8"/>
                </a:solidFill>
                <a:latin typeface="Segoe UI Semibold"/>
              </a:rPr>
              <a:t>Bird-safe wind energy needs trustworthy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6BCC4"/>
                </a:solidFill>
                <a:latin typeface="Segoe UI"/>
              </a:rPr>
              <a:t>Not just a model: a credible way of building deployable AI for a difficult real-world problem.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2286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6BCC4"/>
                </a:solidFill>
                <a:latin typeface="Segoe UI"/>
              </a:rPr>
              <a:t>AI Cup 2026 finalist pitch</a:t>
            </a:r>
          </a:p>
        </p:txBody>
      </p:sp>
      <p:sp>
        <p:nvSpPr>
          <p:cNvPr id="7" name="Oval 6"/>
          <p:cNvSpPr/>
          <p:nvPr/>
        </p:nvSpPr>
        <p:spPr>
          <a:xfrm>
            <a:off x="7955279" y="1527048"/>
            <a:ext cx="2331720" cy="2331720"/>
          </a:xfrm>
          <a:prstGeom prst="ellipse">
            <a:avLst/>
          </a:prstGeom>
          <a:solidFill>
            <a:srgbClr val="1C2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0" y="1051560"/>
            <a:ext cx="1417320" cy="1417320"/>
          </a:xfrm>
          <a:prstGeom prst="ellipse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79" y="1709928"/>
            <a:ext cx="1143000" cy="1143000"/>
          </a:xfrm>
          <a:prstGeom prst="ellipse">
            <a:avLst/>
          </a:prstGeom>
          <a:solidFill>
            <a:srgbClr val="19C5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2697480"/>
            <a:ext cx="1143000" cy="301752"/>
          </a:xfrm>
          <a:prstGeom prst="round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43200"/>
            <a:ext cx="1417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7F1E8"/>
                </a:solidFill>
                <a:latin typeface="Segoe UI Semibold"/>
              </a:rPr>
              <a:t>Biodiversity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74519" y="2697480"/>
            <a:ext cx="1143000" cy="301752"/>
          </a:xfrm>
          <a:prstGeom prst="roundRect">
            <a:avLst/>
          </a:prstGeom>
          <a:solidFill>
            <a:srgbClr val="19C5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74519" y="2743200"/>
            <a:ext cx="1417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7F1E8"/>
                </a:solidFill>
                <a:latin typeface="Segoe UI Semibold"/>
              </a:rPr>
              <a:t>Wind energy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2697480"/>
            <a:ext cx="1417320" cy="301752"/>
          </a:xfrm>
          <a:prstGeom prst="roundRect">
            <a:avLst/>
          </a:prstGeom>
          <a:solidFill>
            <a:srgbClr val="1C2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2743200"/>
            <a:ext cx="1417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7F1E8"/>
                </a:solidFill>
                <a:latin typeface="Segoe UI Semibold"/>
              </a:rPr>
              <a:t>Deployable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9C5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8046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7F1E8"/>
                </a:solidFill>
                <a:latin typeface="Segoe UI Semibold"/>
              </a:rPr>
              <a:t>Why this problem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6BCC4"/>
                </a:solidFill>
                <a:latin typeface="Segoe UI"/>
              </a:rPr>
              <a:t>Wind energy and biodiversity share the same airspace.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2286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6BCC4"/>
                </a:solidFill>
                <a:latin typeface="Segoe UI"/>
              </a:rPr>
              <a:t>AI Cup 2026 finalist pitch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3017520" cy="2011680"/>
          </a:xfrm>
          <a:prstGeom prst="roundRect">
            <a:avLst/>
          </a:prstGeom>
          <a:solidFill>
            <a:srgbClr val="1C2127"/>
          </a:solidFill>
          <a:ln>
            <a:solidFill>
              <a:srgbClr val="FF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993392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7F1E8"/>
                </a:solidFill>
              </a:rPr>
              <a:t>Ecology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468880"/>
            <a:ext cx="26517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6BCC4"/>
                </a:solidFill>
              </a:rPr>
              <a:t>Bird strikes are a real conservation issue.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828800"/>
            <a:ext cx="3017520" cy="2011680"/>
          </a:xfrm>
          <a:prstGeom prst="roundRect">
            <a:avLst/>
          </a:prstGeom>
          <a:solidFill>
            <a:srgbClr val="1C2127"/>
          </a:solidFill>
          <a:ln>
            <a:solidFill>
              <a:srgbClr val="19C5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0831" y="1993392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7F1E8"/>
                </a:solidFill>
              </a:rPr>
              <a:t>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0831" y="2468880"/>
            <a:ext cx="26517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6BCC4"/>
                </a:solidFill>
              </a:rPr>
              <a:t>Mitigation has to be targeted and defensible.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828800"/>
            <a:ext cx="3017520" cy="2011680"/>
          </a:xfrm>
          <a:prstGeom prst="roundRect">
            <a:avLst/>
          </a:prstGeom>
          <a:solidFill>
            <a:srgbClr val="1C2127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36992" y="1993392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7F1E8"/>
                </a:solidFill>
              </a:rPr>
              <a:t>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36992" y="2468880"/>
            <a:ext cx="26517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6BCC4"/>
                </a:solidFill>
              </a:rPr>
              <a:t>Radar is scalable, but classification is noisy and seasonally shifting.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9C5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8046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7F1E8"/>
                </a:solidFill>
                <a:latin typeface="Segoe UI Semibold"/>
              </a:rPr>
              <a:t>What made our team different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6BCC4"/>
                </a:solidFill>
                <a:latin typeface="Segoe UI"/>
              </a:rPr>
              <a:t>We built a disciplined research workflow, not a one-off leaderboard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2286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6BCC4"/>
                </a:solidFill>
                <a:latin typeface="Segoe UI"/>
              </a:rPr>
              <a:t>AI Cup 2026 finalist pitch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03120"/>
            <a:ext cx="1828800" cy="1645920"/>
          </a:xfrm>
          <a:prstGeom prst="roundRect">
            <a:avLst/>
          </a:prstGeom>
          <a:solidFill>
            <a:srgbClr val="1C2127"/>
          </a:solidFill>
          <a:ln>
            <a:solidFill>
              <a:srgbClr val="FF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7F1E8"/>
                </a:solidFill>
              </a:rPr>
              <a:t>Hypothesis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43200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B6BCC4"/>
                </a:solidFill>
              </a:rPr>
              <a:t>Start from an idea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70632" y="2103120"/>
            <a:ext cx="1828800" cy="1645920"/>
          </a:xfrm>
          <a:prstGeom prst="roundRect">
            <a:avLst/>
          </a:prstGeom>
          <a:solidFill>
            <a:srgbClr val="1C2127"/>
          </a:solidFill>
          <a:ln>
            <a:solidFill>
              <a:srgbClr val="19C5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62072" y="23317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7F1E8"/>
                </a:solidFill>
              </a:rPr>
              <a:t>Experiment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62072" y="2743200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B6BCC4"/>
                </a:solidFill>
              </a:rPr>
              <a:t>Run controlled tests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38344" y="2103120"/>
            <a:ext cx="1828800" cy="1645920"/>
          </a:xfrm>
          <a:prstGeom prst="roundRect">
            <a:avLst/>
          </a:prstGeom>
          <a:solidFill>
            <a:srgbClr val="1C2127"/>
          </a:solidFill>
          <a:ln>
            <a:solidFill>
              <a:srgbClr val="FF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9783" y="23317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7F1E8"/>
                </a:solidFill>
              </a:rPr>
              <a:t>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9783" y="2743200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B6BCC4"/>
                </a:solidFill>
              </a:rPr>
              <a:t>Check month-shift robustness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06055" y="2103120"/>
            <a:ext cx="1828800" cy="1645920"/>
          </a:xfrm>
          <a:prstGeom prst="roundRect">
            <a:avLst/>
          </a:prstGeom>
          <a:solidFill>
            <a:srgbClr val="1C2127"/>
          </a:solidFill>
          <a:ln>
            <a:solidFill>
              <a:srgbClr val="19C5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97496" y="23317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7F1E8"/>
                </a:solidFill>
              </a:rPr>
              <a:t>Keep / reject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97496" y="2743200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B6BCC4"/>
                </a:solidFill>
              </a:rPr>
              <a:t>Preserve what generalizes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73768" y="2103120"/>
            <a:ext cx="1828800" cy="1645920"/>
          </a:xfrm>
          <a:prstGeom prst="roundRect">
            <a:avLst/>
          </a:prstGeom>
          <a:solidFill>
            <a:srgbClr val="1C2127"/>
          </a:solidFill>
          <a:ln>
            <a:solidFill>
              <a:srgbClr val="FF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65208" y="23317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7F1E8"/>
                </a:solidFill>
              </a:rPr>
              <a:t>Deployable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65208" y="2743200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B6BCC4"/>
                </a:solidFill>
              </a:rPr>
              <a:t>Turn insights into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9C5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8046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7F1E8"/>
                </a:solidFill>
                <a:latin typeface="Segoe UI Semibold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6BCC4"/>
                </a:solidFill>
                <a:latin typeface="Segoe UI"/>
              </a:rPr>
              <a:t>Movement + radar + context into one robust decision pipeline.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2286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6BCC4"/>
                </a:solidFill>
                <a:latin typeface="Segoe UI"/>
              </a:rPr>
              <a:t>AI Cup 2026 finalist pitch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1828800" cy="1691640"/>
          </a:xfrm>
          <a:prstGeom prst="roundRect">
            <a:avLst/>
          </a:prstGeom>
          <a:solidFill>
            <a:srgbClr val="1C2127"/>
          </a:solidFill>
          <a:ln>
            <a:solidFill>
              <a:srgbClr val="FF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7F1E8"/>
                </a:solidFill>
              </a:rPr>
              <a:t>Inputs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B6BCC4"/>
                </a:solidFill>
              </a:rPr>
              <a:t>Trajectories + 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39" y="2286000"/>
            <a:ext cx="1828800" cy="1691640"/>
          </a:xfrm>
          <a:prstGeom prst="roundRect">
            <a:avLst/>
          </a:prstGeom>
          <a:solidFill>
            <a:srgbClr val="1C2127"/>
          </a:solidFill>
          <a:ln>
            <a:solidFill>
              <a:srgbClr val="19C5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79" y="256032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7F1E8"/>
                </a:solidFill>
              </a:rPr>
              <a:t>Feature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79" y="2880360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B6BCC4"/>
                </a:solidFill>
              </a:rPr>
              <a:t>Kinematics + signatures + catch22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59" y="2286000"/>
            <a:ext cx="1828800" cy="1691640"/>
          </a:xfrm>
          <a:prstGeom prst="roundRect">
            <a:avLst/>
          </a:prstGeom>
          <a:solidFill>
            <a:srgbClr val="1C2127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399" y="256032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7F1E8"/>
                </a:solidFill>
              </a:rPr>
              <a:t>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399" y="2880360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B6BCC4"/>
                </a:solidFill>
              </a:rPr>
              <a:t>Ranking-aware ensemble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2286000"/>
            <a:ext cx="1828800" cy="1691640"/>
          </a:xfrm>
          <a:prstGeom prst="roundRect">
            <a:avLst/>
          </a:prstGeom>
          <a:solidFill>
            <a:srgbClr val="1C2127"/>
          </a:solidFill>
          <a:ln>
            <a:solidFill>
              <a:srgbClr val="FF5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19" y="256032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7F1E8"/>
                </a:solidFill>
              </a:rPr>
              <a:t>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19" y="2880360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B6BCC4"/>
                </a:solidFill>
              </a:rPr>
              <a:t>Probabilistic decision support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2057400"/>
            <a:ext cx="1508760" cy="1828800"/>
          </a:xfrm>
          <a:prstGeom prst="roundRect">
            <a:avLst/>
          </a:prstGeom>
          <a:solidFill>
            <a:srgbClr val="1C2127"/>
          </a:solidFill>
          <a:ln>
            <a:solidFill>
              <a:srgbClr val="19C5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95560" y="2240280"/>
            <a:ext cx="12344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7F1E8"/>
                </a:solidFill>
              </a:rPr>
              <a:t>Critical constraint
Seasonal / month shift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9C5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8046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7F1E8"/>
                </a:solidFill>
                <a:latin typeface="Segoe UI Semibold"/>
              </a:rPr>
              <a:t>What actually moved the needle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6BCC4"/>
                </a:solidFill>
                <a:latin typeface="Segoe UI"/>
              </a:rPr>
              <a:t>Ranking-aware modeling, shift-aware validation, and judgment over tricks.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2286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6BCC4"/>
                </a:solidFill>
                <a:latin typeface="Segoe UI"/>
              </a:rPr>
              <a:t>AI Cup 2026 finalist pitch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2971800" cy="2011680"/>
          </a:xfrm>
          <a:prstGeom prst="roundRect">
            <a:avLst/>
          </a:prstGeom>
          <a:solidFill>
            <a:srgbClr val="1C2127"/>
          </a:solidFill>
          <a:ln>
            <a:solidFill>
              <a:srgbClr val="FF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20574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7F1E8"/>
                </a:solidFill>
              </a:rPr>
              <a:t>Ranking-aware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5603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6BCC4"/>
                </a:solidFill>
              </a:rPr>
              <a:t>Metric alignment changed modeling choices.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874519"/>
            <a:ext cx="2971800" cy="2011680"/>
          </a:xfrm>
          <a:prstGeom prst="roundRect">
            <a:avLst/>
          </a:prstGeom>
          <a:solidFill>
            <a:srgbClr val="1C2127"/>
          </a:solidFill>
          <a:ln>
            <a:solidFill>
              <a:srgbClr val="19C5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0831" y="20574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7F1E8"/>
                </a:solidFill>
              </a:rPr>
              <a:t>Shift-aware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0831" y="25603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6BCC4"/>
                </a:solidFill>
              </a:rPr>
              <a:t>Local gains often failed across months.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874519"/>
            <a:ext cx="2971800" cy="2011680"/>
          </a:xfrm>
          <a:prstGeom prst="roundRect">
            <a:avLst/>
          </a:prstGeom>
          <a:solidFill>
            <a:srgbClr val="1C2127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36992" y="20574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7F1E8"/>
                </a:solidFill>
              </a:rPr>
              <a:t>Judgment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36992" y="25603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6BCC4"/>
                </a:solidFill>
              </a:rPr>
              <a:t>We rejected brittle methods.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9C5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8046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7F1E8"/>
                </a:solidFill>
                <a:latin typeface="Segoe UI Semibold"/>
              </a:rPr>
              <a:t>Why we trust this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6BCC4"/>
                </a:solidFill>
                <a:latin typeface="Segoe UI"/>
              </a:rPr>
              <a:t>The workflow increased the quality and credibility of the final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2286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6BCC4"/>
                </a:solidFill>
                <a:latin typeface="Segoe UI"/>
              </a:rPr>
              <a:t>AI Cup 2026 finalist pitch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2423160" cy="1965960"/>
          </a:xfrm>
          <a:prstGeom prst="roundRect">
            <a:avLst/>
          </a:prstGeom>
          <a:solidFill>
            <a:srgbClr val="1C2127"/>
          </a:solidFill>
          <a:ln>
            <a:solidFill>
              <a:srgbClr val="FF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7F1E8"/>
                </a:solidFill>
              </a:rPr>
              <a:t>Finalist-level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697480"/>
            <a:ext cx="2057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B6BCC4"/>
                </a:solidFill>
              </a:rPr>
              <a:t>Reached the AI Cup 2026 finals.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965960"/>
            <a:ext cx="2423160" cy="1965960"/>
          </a:xfrm>
          <a:prstGeom prst="roundRect">
            <a:avLst/>
          </a:prstGeom>
          <a:solidFill>
            <a:srgbClr val="1C2127"/>
          </a:solidFill>
          <a:ln>
            <a:solidFill>
              <a:srgbClr val="19C5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214884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7F1E8"/>
                </a:solidFill>
              </a:rPr>
              <a:t>Experiment 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2697480"/>
            <a:ext cx="2057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B6BCC4"/>
                </a:solidFill>
              </a:rPr>
              <a:t>Broad exploration, not one lucky run.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65960"/>
            <a:ext cx="2423160" cy="1965960"/>
          </a:xfrm>
          <a:prstGeom prst="roundRect">
            <a:avLst/>
          </a:prstGeom>
          <a:solidFill>
            <a:srgbClr val="1C2127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14884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7F1E8"/>
                </a:solidFill>
              </a:rPr>
              <a:t>Most submissions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1" y="2697480"/>
            <a:ext cx="2057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B6BCC4"/>
                </a:solidFill>
              </a:rPr>
              <a:t>Disciplined throughput and learning.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965960"/>
            <a:ext cx="2423160" cy="1965960"/>
          </a:xfrm>
          <a:prstGeom prst="roundRect">
            <a:avLst/>
          </a:prstGeom>
          <a:solidFill>
            <a:srgbClr val="1C2127"/>
          </a:solidFill>
          <a:ln>
            <a:solidFill>
              <a:srgbClr val="FF5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214884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7F1E8"/>
                </a:solidFill>
              </a:rPr>
              <a:t>Honest 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08592" y="2697480"/>
            <a:ext cx="2057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B6BCC4"/>
                </a:solidFill>
              </a:rPr>
              <a:t>Cross-month thinking improved credibility.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9C5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8046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7F1E8"/>
                </a:solidFill>
                <a:latin typeface="Segoe UI Semibold"/>
              </a:rPr>
              <a:t>How this gets used in the real world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6BCC4"/>
                </a:solidFill>
                <a:latin typeface="Segoe UI"/>
              </a:rPr>
              <a:t>Decision support for monitoring and targeted mitigation.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2286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6BCC4"/>
                </a:solidFill>
                <a:latin typeface="Segoe UI"/>
              </a:rPr>
              <a:t>AI Cup 2026 finalist pitch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240280"/>
            <a:ext cx="2286000" cy="1188720"/>
          </a:xfrm>
          <a:prstGeom prst="roundRect">
            <a:avLst/>
          </a:prstGeom>
          <a:solidFill>
            <a:srgbClr val="1C2127"/>
          </a:solidFill>
          <a:ln>
            <a:solidFill>
              <a:srgbClr val="FF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58775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7F1E8"/>
                </a:solidFill>
              </a:rPr>
              <a:t>Radar monitoring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240280"/>
            <a:ext cx="2286000" cy="1188720"/>
          </a:xfrm>
          <a:prstGeom prst="roundRect">
            <a:avLst/>
          </a:prstGeom>
          <a:solidFill>
            <a:srgbClr val="1C2127"/>
          </a:solidFill>
          <a:ln>
            <a:solidFill>
              <a:srgbClr val="19C5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84448" y="258775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7F1E8"/>
                </a:solidFill>
              </a:rPr>
              <a:t>AI ranking + uncertainty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2286000" cy="1188720"/>
          </a:xfrm>
          <a:prstGeom prst="roundRect">
            <a:avLst/>
          </a:prstGeom>
          <a:solidFill>
            <a:srgbClr val="1C2127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258775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7F1E8"/>
                </a:solidFill>
              </a:rPr>
              <a:t>Operator / ecologist review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2240280"/>
            <a:ext cx="2286000" cy="1188720"/>
          </a:xfrm>
          <a:prstGeom prst="roundRect">
            <a:avLst/>
          </a:prstGeom>
          <a:solidFill>
            <a:srgbClr val="1C2127"/>
          </a:solidFill>
          <a:ln>
            <a:solidFill>
              <a:srgbClr val="FF5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45167" y="258775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7F1E8"/>
                </a:solidFill>
              </a:rPr>
              <a:t>Targeted mitigation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