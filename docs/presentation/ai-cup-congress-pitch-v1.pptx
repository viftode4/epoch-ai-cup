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3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1B47-CBD0-95CA-0EE2-3035916B6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1B386-191C-E8FC-D699-9F7A99C4E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D2D03-7440-3903-CC60-8DD06097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A9AE-5B11-2696-19EB-448675EB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CAD0F-A661-3642-3203-353FB881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5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A98C-6764-E44D-F3DD-30DDB7F7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00771-CF66-F91A-E5FF-0A406EAF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65586-F794-BDDD-A3E4-FF5ADF54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8BA4E-EE33-3948-8586-7BFD346F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8E2A-B8BD-0973-0BDC-5FD7855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2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7F8C-9B66-E738-36FA-A16758BE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26715-A64C-B9A8-65D5-00C4D2783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AE247-CA99-0E56-1C1E-341D2C41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C6628-A881-0CBB-62DF-CAD6D435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DBEA0-D114-F493-F097-A00121CA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0A6E-ADEB-BC7A-253C-899EDDE9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D5B8-C66B-1230-46BC-B43C4394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E7760-62E3-7AA8-DE3A-38AA6FCA8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446D0-C33E-BE85-6B0F-2DACB376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46A9-9A4B-201B-69B8-1B09FEE6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FD957-4616-D97C-D389-5A0FEEDB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880C-1447-2619-3E0E-DCAB875B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1F3CA-C30E-6864-2B69-3C9E965B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2D94F-9FA2-1631-9D32-B517C546B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8E76C-C15C-26BE-0DF5-42DA0A63E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049CD-1BA3-024A-D0B7-8876A4C96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83893-E752-C2A3-6B66-1C15D537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53069-13FB-4940-ED46-2ADD0736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C7811-59E4-F241-53A6-6EF50308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5C1E-EB72-0D54-768D-C63E897D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A2F05-965C-E088-EC6C-4DF44D12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9184D-FB42-2D10-8E53-98247668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C386C-0958-92F1-679E-50A7EC9F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C5A3D-727C-B549-DE12-0EEDFB2B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6822C-BA61-1EDC-C9E9-C99B8E8D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DD56D-AB9C-3473-5593-96817682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7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C695-D3E8-F554-F559-D6B5D38D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4C90-EFD1-9F9C-E5D6-5F819311B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3A7C-F270-55EE-BE4F-14F0564DE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C1DC0-BC2A-5D33-2FB1-E99AF432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06FA4-FE14-D69B-9682-E73E8FB7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CFF2-2855-95C1-3C28-D483467D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4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61B2-2CAE-D7E3-6FAF-F8C1EA2C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ECEAF-C69A-F6C4-D85D-3782ADDD6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BCDBE-7414-75E1-A0BB-D06A84CCB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FDEA2-A8ED-A1B8-24B5-C5A40377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3FC17-5AC6-272D-C972-6226C9FB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7E63A-A04D-FF80-E3D6-CF8DCA96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B08F-FEAB-73FD-7E03-5B3FC02C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141FA-B7C2-8A8A-3D07-E04450028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2886-926C-BE44-5FC3-25B3A4AA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AC11B-95B0-61E7-8582-EB21EDE1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D7202-BAA4-D46B-7ACA-0C5B537C5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52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30876-22AE-E13F-E483-5BAC752D1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E382E-90D7-E184-E8C1-527648680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13AE4-C6A5-7372-3645-DDC9E350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4AB1A-4073-5626-46CF-24F40334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F5D7-C461-9F50-6319-CD31D0FA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80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66E80-1469-D438-9540-86756377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B61E9-FB4A-0A47-A14A-F40AE2F86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0AC12-6847-55C8-2A27-0797E9D93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0C9CD-CB06-43E1-8C4B-BA2F0D41FF6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34043-CD5C-3BAF-5036-928E3E1B3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B15B0-9C93-AA3D-68FB-1F113B94B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9A4A4-E354-4C0A-A050-BA9246A98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0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664C9-BDBF-9526-7DB2-1F77AC3C0D02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124DC-1948-529C-37C6-C39FFABE1D6C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25CAF-1FA3-C8D6-B2F5-46B208378317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035DA-7F2B-2523-8B63-7735BF14D02F}"/>
              </a:ext>
            </a:extLst>
          </p:cNvPr>
          <p:cNvSpPr txBox="1"/>
          <p:nvPr/>
        </p:nvSpPr>
        <p:spPr>
          <a:xfrm>
            <a:off x="889000" y="1143000"/>
            <a:ext cx="8255000" cy="53860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900" b="1">
                <a:solidFill>
                  <a:srgbClr val="F7F1E8"/>
                </a:solidFill>
                <a:latin typeface="Segoe UI Semibold" panose="020B0702040204020203" pitchFamily="34" charset="0"/>
              </a:rPr>
              <a:t>Bird-safe wind energy needs trustworthy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792B2-3685-11A0-6CDB-1604ACBD73C6}"/>
              </a:ext>
            </a:extLst>
          </p:cNvPr>
          <p:cNvSpPr txBox="1"/>
          <p:nvPr/>
        </p:nvSpPr>
        <p:spPr>
          <a:xfrm>
            <a:off x="889000" y="3048000"/>
            <a:ext cx="8255000" cy="70788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 on radar classification, disciplined research workflow, and deployable decision support.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26219F-B61E-1039-B492-C657B44D7AE3}"/>
              </a:ext>
            </a:extLst>
          </p:cNvPr>
          <p:cNvSpPr/>
          <p:nvPr/>
        </p:nvSpPr>
        <p:spPr>
          <a:xfrm>
            <a:off x="889000" y="4508500"/>
            <a:ext cx="1524000" cy="330200"/>
          </a:xfrm>
          <a:prstGeom prst="roundRect">
            <a:avLst/>
          </a:prstGeom>
          <a:solidFill>
            <a:srgbClr val="FF7A1A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7A1A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E85C61-CC1C-60AB-C0ED-5B71A94F5FFA}"/>
              </a:ext>
            </a:extLst>
          </p:cNvPr>
          <p:cNvSpPr/>
          <p:nvPr/>
        </p:nvSpPr>
        <p:spPr>
          <a:xfrm>
            <a:off x="2603500" y="4508500"/>
            <a:ext cx="1651000" cy="330200"/>
          </a:xfrm>
          <a:prstGeom prst="roundRect">
            <a:avLst/>
          </a:prstGeom>
          <a:solidFill>
            <a:srgbClr val="19C5B7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9C5B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BEB63B-9EC6-7BDA-3208-D2D13F135FBD}"/>
              </a:ext>
            </a:extLst>
          </p:cNvPr>
          <p:cNvSpPr/>
          <p:nvPr/>
        </p:nvSpPr>
        <p:spPr>
          <a:xfrm>
            <a:off x="4445000" y="4508500"/>
            <a:ext cx="2032000" cy="330200"/>
          </a:xfrm>
          <a:prstGeom prst="roundRect">
            <a:avLst/>
          </a:prstGeom>
          <a:solidFill>
            <a:srgbClr val="1C2127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C2127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FF8C5-94E5-F60B-633D-81109BC98521}"/>
              </a:ext>
            </a:extLst>
          </p:cNvPr>
          <p:cNvSpPr txBox="1"/>
          <p:nvPr/>
        </p:nvSpPr>
        <p:spPr>
          <a:xfrm>
            <a:off x="889000" y="4546600"/>
            <a:ext cx="1524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 b="1">
                <a:solidFill>
                  <a:srgbClr val="F7F1E8"/>
                </a:solidFill>
                <a:latin typeface="Segoe UI Semibold" panose="020B0702040204020203" pitchFamily="34" charset="0"/>
              </a:rPr>
              <a:t>Biodiversity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34A99-E6B7-7010-C591-6BA255CFDD9E}"/>
              </a:ext>
            </a:extLst>
          </p:cNvPr>
          <p:cNvSpPr txBox="1"/>
          <p:nvPr/>
        </p:nvSpPr>
        <p:spPr>
          <a:xfrm>
            <a:off x="2603500" y="4546600"/>
            <a:ext cx="165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 b="1">
                <a:solidFill>
                  <a:srgbClr val="F7F1E8"/>
                </a:solidFill>
                <a:latin typeface="Segoe UI Semibold" panose="020B0702040204020203" pitchFamily="34" charset="0"/>
              </a:rPr>
              <a:t>Wind energy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BF393-3FC5-8C9D-D5AA-F2610F6FE666}"/>
              </a:ext>
            </a:extLst>
          </p:cNvPr>
          <p:cNvSpPr txBox="1"/>
          <p:nvPr/>
        </p:nvSpPr>
        <p:spPr>
          <a:xfrm>
            <a:off x="4445000" y="45466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200" b="1">
                <a:solidFill>
                  <a:srgbClr val="F7F1E8"/>
                </a:solidFill>
                <a:latin typeface="Segoe UI Semibold" panose="020B0702040204020203" pitchFamily="34" charset="0"/>
              </a:rPr>
              <a:t>Deployable AI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C330D0-90AD-4B72-ACCF-786AF4B9482C}"/>
              </a:ext>
            </a:extLst>
          </p:cNvPr>
          <p:cNvSpPr/>
          <p:nvPr/>
        </p:nvSpPr>
        <p:spPr>
          <a:xfrm>
            <a:off x="10160000" y="1397000"/>
            <a:ext cx="3810000" cy="3810000"/>
          </a:xfrm>
          <a:prstGeom prst="ellipse">
            <a:avLst/>
          </a:prstGeom>
          <a:solidFill>
            <a:srgbClr val="1C21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94CD75-C03F-32C1-AA2C-3715F369D7BE}"/>
              </a:ext>
            </a:extLst>
          </p:cNvPr>
          <p:cNvSpPr/>
          <p:nvPr/>
        </p:nvSpPr>
        <p:spPr>
          <a:xfrm>
            <a:off x="11811000" y="2667000"/>
            <a:ext cx="2413000" cy="2413000"/>
          </a:xfrm>
          <a:prstGeom prst="ellipse">
            <a:avLst/>
          </a:prstGeom>
          <a:solidFill>
            <a:srgbClr val="FF7A1A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C1595F-7BE0-8BA6-B8C8-5604F8B8D640}"/>
              </a:ext>
            </a:extLst>
          </p:cNvPr>
          <p:cNvSpPr/>
          <p:nvPr/>
        </p:nvSpPr>
        <p:spPr>
          <a:xfrm>
            <a:off x="9652000" y="4064000"/>
            <a:ext cx="2032000" cy="2032000"/>
          </a:xfrm>
          <a:prstGeom prst="ellipse">
            <a:avLst/>
          </a:prstGeom>
          <a:solidFill>
            <a:srgbClr val="19C5B7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11088D-EB4F-C406-D6D3-F309B65013FA}"/>
              </a:ext>
            </a:extLst>
          </p:cNvPr>
          <p:cNvSpPr txBox="1"/>
          <p:nvPr/>
        </p:nvSpPr>
        <p:spPr>
          <a:xfrm>
            <a:off x="10287000" y="2095500"/>
            <a:ext cx="3175000" cy="224676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We are not just presenting a model.</a:t>
            </a:r>
          </a:p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We are presenting a credible way to build deployable AI for a difficult real-world problem.</a:t>
            </a:r>
          </a:p>
        </p:txBody>
      </p:sp>
    </p:spTree>
    <p:extLst>
      <p:ext uri="{BB962C8B-B14F-4D97-AF65-F5344CB8AC3E}">
        <p14:creationId xmlns:p14="http://schemas.microsoft.com/office/powerpoint/2010/main" val="250047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F1163E-EAB1-244C-EF01-AD1696CF5334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0C546-42F4-008B-BE02-2615C163AD40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61885-2859-C405-7FEE-136ECA52A218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E03BE-6F83-5FD9-60D8-65C0841E0B6A}"/>
              </a:ext>
            </a:extLst>
          </p:cNvPr>
          <p:cNvSpPr txBox="1"/>
          <p:nvPr/>
        </p:nvSpPr>
        <p:spPr>
          <a:xfrm>
            <a:off x="889000" y="889000"/>
            <a:ext cx="9906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Why this problem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658F9-FEF7-BB53-ABDD-77817AFCE99A}"/>
              </a:ext>
            </a:extLst>
          </p:cNvPr>
          <p:cNvSpPr txBox="1"/>
          <p:nvPr/>
        </p:nvSpPr>
        <p:spPr>
          <a:xfrm>
            <a:off x="889000" y="1651000"/>
            <a:ext cx="11430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>
                <a:solidFill>
                  <a:srgbClr val="B6BCC4"/>
                </a:solidFill>
                <a:latin typeface="Segoe UI" panose="020B0502040204020203" pitchFamily="34" charset="0"/>
              </a:rPr>
              <a:t>Wind energy and biodiversity share the same airspace.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0E6678-72E5-65BE-5B39-F9D974B527BC}"/>
              </a:ext>
            </a:extLst>
          </p:cNvPr>
          <p:cNvSpPr/>
          <p:nvPr/>
        </p:nvSpPr>
        <p:spPr>
          <a:xfrm>
            <a:off x="889000" y="2667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1F65EC-6774-F0AD-6EF6-09DD7E6B0C95}"/>
              </a:ext>
            </a:extLst>
          </p:cNvPr>
          <p:cNvSpPr txBox="1"/>
          <p:nvPr/>
        </p:nvSpPr>
        <p:spPr>
          <a:xfrm>
            <a:off x="1143000" y="2895600"/>
            <a:ext cx="3937000" cy="43088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Ecology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7485-9B48-C2B6-E014-4A85E9BD43F4}"/>
              </a:ext>
            </a:extLst>
          </p:cNvPr>
          <p:cNvSpPr txBox="1"/>
          <p:nvPr/>
        </p:nvSpPr>
        <p:spPr>
          <a:xfrm>
            <a:off x="1143000" y="3429000"/>
            <a:ext cx="393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Bird strikes are a real conservation issue, especially during migration peaks and for high-impact groups.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EFD000-13C1-B42D-0C98-AA7D38AF28FF}"/>
              </a:ext>
            </a:extLst>
          </p:cNvPr>
          <p:cNvSpPr/>
          <p:nvPr/>
        </p:nvSpPr>
        <p:spPr>
          <a:xfrm>
            <a:off x="5651500" y="2667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543D6-5E2B-1263-DC11-19FFA4252AC9}"/>
              </a:ext>
            </a:extLst>
          </p:cNvPr>
          <p:cNvSpPr txBox="1"/>
          <p:nvPr/>
        </p:nvSpPr>
        <p:spPr>
          <a:xfrm>
            <a:off x="5905500" y="2895600"/>
            <a:ext cx="3937000" cy="43088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949D-F526-1D8C-6871-E18231C50984}"/>
              </a:ext>
            </a:extLst>
          </p:cNvPr>
          <p:cNvSpPr txBox="1"/>
          <p:nvPr/>
        </p:nvSpPr>
        <p:spPr>
          <a:xfrm>
            <a:off x="5905500" y="3429000"/>
            <a:ext cx="393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Turbine shutdowns are costly, so mitigation needs to be targeted, trustworthy, and defensible.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0D2EB0-42F0-D276-17E4-260DF84D810E}"/>
              </a:ext>
            </a:extLst>
          </p:cNvPr>
          <p:cNvSpPr/>
          <p:nvPr/>
        </p:nvSpPr>
        <p:spPr>
          <a:xfrm>
            <a:off x="10414000" y="2667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112C6-0E47-6430-695B-4C99E84143E9}"/>
              </a:ext>
            </a:extLst>
          </p:cNvPr>
          <p:cNvSpPr txBox="1"/>
          <p:nvPr/>
        </p:nvSpPr>
        <p:spPr>
          <a:xfrm>
            <a:off x="10668000" y="2895600"/>
            <a:ext cx="3937000" cy="43088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Monitoring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36AE1-694D-66CA-621C-862BE970C3E3}"/>
              </a:ext>
            </a:extLst>
          </p:cNvPr>
          <p:cNvSpPr txBox="1"/>
          <p:nvPr/>
        </p:nvSpPr>
        <p:spPr>
          <a:xfrm>
            <a:off x="10668000" y="3429000"/>
            <a:ext cx="393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Radar gives scale and range, but bird-group classification is hard because data are noisy, imbalanced, and seasonally shifting.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AFD3E-EF8C-1AD7-4865-DA51FE09B32A}"/>
              </a:ext>
            </a:extLst>
          </p:cNvPr>
          <p:cNvSpPr txBox="1"/>
          <p:nvPr/>
        </p:nvSpPr>
        <p:spPr>
          <a:xfrm>
            <a:off x="889000" y="5842000"/>
            <a:ext cx="13208000" cy="120032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400" b="1">
                <a:solidFill>
                  <a:srgbClr val="F7F1E8"/>
                </a:solidFill>
                <a:latin typeface="Segoe UI Semibold" panose="020B0702040204020203" pitchFamily="34" charset="0"/>
              </a:rPr>
              <a:t>Our opportunity was not just to classify better.</a:t>
            </a:r>
          </a:p>
          <a:p>
            <a:r>
              <a:rPr lang="en-US" sz="2400" b="1">
                <a:solidFill>
                  <a:srgbClr val="F7F1E8"/>
                </a:solidFill>
                <a:latin typeface="Segoe UI Semibold" panose="020B0702040204020203" pitchFamily="34" charset="0"/>
              </a:rPr>
              <a:t>It was to turn difficult sensor data into practical decision support for nature-inclusive wind energy.</a:t>
            </a:r>
          </a:p>
        </p:txBody>
      </p:sp>
    </p:spTree>
    <p:extLst>
      <p:ext uri="{BB962C8B-B14F-4D97-AF65-F5344CB8AC3E}">
        <p14:creationId xmlns:p14="http://schemas.microsoft.com/office/powerpoint/2010/main" val="291165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BD2DB-60BE-DEF6-22E3-6137E4ED0863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C3151E-8F44-CDB6-E3D3-8EBCF3DA58B0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47D73-8223-889F-7F8E-A25AE0A5F741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0F242-3434-63F2-552A-44BDBEBB0B8F}"/>
              </a:ext>
            </a:extLst>
          </p:cNvPr>
          <p:cNvSpPr txBox="1"/>
          <p:nvPr/>
        </p:nvSpPr>
        <p:spPr>
          <a:xfrm>
            <a:off x="889000" y="889000"/>
            <a:ext cx="11430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What made our team different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F20D1-C92D-357F-613C-A38E993A3D00}"/>
              </a:ext>
            </a:extLst>
          </p:cNvPr>
          <p:cNvSpPr txBox="1"/>
          <p:nvPr/>
        </p:nvSpPr>
        <p:spPr>
          <a:xfrm>
            <a:off x="889000" y="1651000"/>
            <a:ext cx="12446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>
                <a:solidFill>
                  <a:srgbClr val="B6BCC4"/>
                </a:solidFill>
                <a:latin typeface="Segoe UI" panose="020B0502040204020203" pitchFamily="34" charset="0"/>
              </a:rPr>
              <a:t>We built a disciplined research workflow, not a one-off leaderboard model.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4EBD31-8ABF-FD00-2631-E7F2233D9CEE}"/>
              </a:ext>
            </a:extLst>
          </p:cNvPr>
          <p:cNvSpPr/>
          <p:nvPr/>
        </p:nvSpPr>
        <p:spPr>
          <a:xfrm>
            <a:off x="762000" y="3175000"/>
            <a:ext cx="2667000" cy="2159000"/>
          </a:xfrm>
          <a:prstGeom prst="roundRect">
            <a:avLst/>
          </a:prstGeom>
          <a:solidFill>
            <a:srgbClr val="1C2127"/>
          </a:solidFill>
          <a:ln w="1778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47796-E323-7527-8A27-BE099D6299EB}"/>
              </a:ext>
            </a:extLst>
          </p:cNvPr>
          <p:cNvSpPr txBox="1"/>
          <p:nvPr/>
        </p:nvSpPr>
        <p:spPr>
          <a:xfrm>
            <a:off x="952500" y="3429000"/>
            <a:ext cx="2286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Hypothesis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4B64C-890D-6306-7F32-75F3C1883FD0}"/>
              </a:ext>
            </a:extLst>
          </p:cNvPr>
          <p:cNvSpPr txBox="1"/>
          <p:nvPr/>
        </p:nvSpPr>
        <p:spPr>
          <a:xfrm>
            <a:off x="952500" y="4000500"/>
            <a:ext cx="2286000" cy="52450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400">
                <a:solidFill>
                  <a:srgbClr val="B6BCC4"/>
                </a:solidFill>
                <a:latin typeface="Segoe UI" panose="020B0502040204020203" pitchFamily="34" charset="0"/>
              </a:rPr>
              <a:t>Start from a technical or ecological idea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718DE1-1ED3-5C7C-7E8C-80969FD99168}"/>
              </a:ext>
            </a:extLst>
          </p:cNvPr>
          <p:cNvSpPr/>
          <p:nvPr/>
        </p:nvSpPr>
        <p:spPr>
          <a:xfrm>
            <a:off x="3276600" y="4000500"/>
            <a:ext cx="444500" cy="4445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0EE13E-EDCA-53BE-FFD6-C18385C78B2A}"/>
              </a:ext>
            </a:extLst>
          </p:cNvPr>
          <p:cNvSpPr/>
          <p:nvPr/>
        </p:nvSpPr>
        <p:spPr>
          <a:xfrm>
            <a:off x="3746500" y="3175000"/>
            <a:ext cx="2667000" cy="2159000"/>
          </a:xfrm>
          <a:prstGeom prst="roundRect">
            <a:avLst/>
          </a:prstGeom>
          <a:solidFill>
            <a:srgbClr val="1C2127"/>
          </a:solidFill>
          <a:ln w="1778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6F41E-2B80-6D7F-9D67-C7F0700245D4}"/>
              </a:ext>
            </a:extLst>
          </p:cNvPr>
          <p:cNvSpPr txBox="1"/>
          <p:nvPr/>
        </p:nvSpPr>
        <p:spPr>
          <a:xfrm>
            <a:off x="3937000" y="3429000"/>
            <a:ext cx="2286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Experiment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5D57F-CF2E-F559-C816-F0AAF2F459D1}"/>
              </a:ext>
            </a:extLst>
          </p:cNvPr>
          <p:cNvSpPr txBox="1"/>
          <p:nvPr/>
        </p:nvSpPr>
        <p:spPr>
          <a:xfrm>
            <a:off x="3937000" y="4000500"/>
            <a:ext cx="2286000" cy="52450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400">
                <a:solidFill>
                  <a:srgbClr val="B6BCC4"/>
                </a:solidFill>
                <a:latin typeface="Segoe UI" panose="020B0502040204020203" pitchFamily="34" charset="0"/>
              </a:rPr>
              <a:t>Run controlled tests and compare variants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92852D8-3049-498F-84B0-B8CCE550A290}"/>
              </a:ext>
            </a:extLst>
          </p:cNvPr>
          <p:cNvSpPr/>
          <p:nvPr/>
        </p:nvSpPr>
        <p:spPr>
          <a:xfrm>
            <a:off x="6261100" y="4000500"/>
            <a:ext cx="444500" cy="4445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A00AD73-69FE-61D1-F826-45FCA1D320EF}"/>
              </a:ext>
            </a:extLst>
          </p:cNvPr>
          <p:cNvSpPr/>
          <p:nvPr/>
        </p:nvSpPr>
        <p:spPr>
          <a:xfrm>
            <a:off x="6731000" y="3175000"/>
            <a:ext cx="2667000" cy="2159000"/>
          </a:xfrm>
          <a:prstGeom prst="roundRect">
            <a:avLst/>
          </a:prstGeom>
          <a:solidFill>
            <a:srgbClr val="1C2127"/>
          </a:solidFill>
          <a:ln w="1778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12B5C-42FB-FBAD-58E0-77A7F7942B9C}"/>
              </a:ext>
            </a:extLst>
          </p:cNvPr>
          <p:cNvSpPr txBox="1"/>
          <p:nvPr/>
        </p:nvSpPr>
        <p:spPr>
          <a:xfrm>
            <a:off x="6921500" y="3429000"/>
            <a:ext cx="2286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Honest validation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4BD70-6C49-09E4-BE08-63C176F654C6}"/>
              </a:ext>
            </a:extLst>
          </p:cNvPr>
          <p:cNvSpPr txBox="1"/>
          <p:nvPr/>
        </p:nvSpPr>
        <p:spPr>
          <a:xfrm>
            <a:off x="6921500" y="4000500"/>
            <a:ext cx="2286000" cy="52450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400">
                <a:solidFill>
                  <a:srgbClr val="B6BCC4"/>
                </a:solidFill>
                <a:latin typeface="Segoe UI" panose="020B0502040204020203" pitchFamily="34" charset="0"/>
              </a:rPr>
              <a:t>Check robustness under month / seasonal shift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9B1E849-0CBF-4832-CDF6-055E475BE626}"/>
              </a:ext>
            </a:extLst>
          </p:cNvPr>
          <p:cNvSpPr/>
          <p:nvPr/>
        </p:nvSpPr>
        <p:spPr>
          <a:xfrm>
            <a:off x="9245600" y="4000500"/>
            <a:ext cx="444500" cy="4445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64690D-CA97-6AEE-D616-BF15D88177E4}"/>
              </a:ext>
            </a:extLst>
          </p:cNvPr>
          <p:cNvSpPr/>
          <p:nvPr/>
        </p:nvSpPr>
        <p:spPr>
          <a:xfrm>
            <a:off x="9715500" y="3175000"/>
            <a:ext cx="2667000" cy="2159000"/>
          </a:xfrm>
          <a:prstGeom prst="roundRect">
            <a:avLst/>
          </a:prstGeom>
          <a:solidFill>
            <a:srgbClr val="1C2127"/>
          </a:solidFill>
          <a:ln w="1778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A502C9-DD9F-76A9-5D18-C86400243B3D}"/>
              </a:ext>
            </a:extLst>
          </p:cNvPr>
          <p:cNvSpPr txBox="1"/>
          <p:nvPr/>
        </p:nvSpPr>
        <p:spPr>
          <a:xfrm>
            <a:off x="9906000" y="3429000"/>
            <a:ext cx="22860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Keep or reject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32094-8617-4DE7-1544-B2EC9D0B35E3}"/>
              </a:ext>
            </a:extLst>
          </p:cNvPr>
          <p:cNvSpPr txBox="1"/>
          <p:nvPr/>
        </p:nvSpPr>
        <p:spPr>
          <a:xfrm>
            <a:off x="9906000" y="4000500"/>
            <a:ext cx="2286000" cy="52450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400">
                <a:solidFill>
                  <a:srgbClr val="B6BCC4"/>
                </a:solidFill>
                <a:latin typeface="Segoe UI" panose="020B0502040204020203" pitchFamily="34" charset="0"/>
              </a:rPr>
              <a:t>Preserve only what generalizes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9302BD1-8AA5-8F55-7084-C31632F995F4}"/>
              </a:ext>
            </a:extLst>
          </p:cNvPr>
          <p:cNvSpPr/>
          <p:nvPr/>
        </p:nvSpPr>
        <p:spPr>
          <a:xfrm>
            <a:off x="12230100" y="4000500"/>
            <a:ext cx="444500" cy="4445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6C123A5-0059-A452-8C7C-D342A8340058}"/>
              </a:ext>
            </a:extLst>
          </p:cNvPr>
          <p:cNvSpPr/>
          <p:nvPr/>
        </p:nvSpPr>
        <p:spPr>
          <a:xfrm>
            <a:off x="12700000" y="3175000"/>
            <a:ext cx="2667000" cy="2159000"/>
          </a:xfrm>
          <a:prstGeom prst="roundRect">
            <a:avLst/>
          </a:prstGeom>
          <a:solidFill>
            <a:srgbClr val="1C2127"/>
          </a:solidFill>
          <a:ln w="1778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E689EA-ECB4-9CB7-D51B-F54899419309}"/>
              </a:ext>
            </a:extLst>
          </p:cNvPr>
          <p:cNvSpPr txBox="1"/>
          <p:nvPr/>
        </p:nvSpPr>
        <p:spPr>
          <a:xfrm>
            <a:off x="12890500" y="3429000"/>
            <a:ext cx="2286000" cy="70788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Deployable system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402D7C-80FF-AA48-CA8B-F4C948E337B8}"/>
              </a:ext>
            </a:extLst>
          </p:cNvPr>
          <p:cNvSpPr txBox="1"/>
          <p:nvPr/>
        </p:nvSpPr>
        <p:spPr>
          <a:xfrm>
            <a:off x="12890500" y="4000500"/>
            <a:ext cx="2286000" cy="52450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400">
                <a:solidFill>
                  <a:srgbClr val="B6BCC4"/>
                </a:solidFill>
                <a:latin typeface="Segoe UI" panose="020B0502040204020203" pitchFamily="34" charset="0"/>
              </a:rPr>
              <a:t>Turn insights into a defendable pipeline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00FF37-E94A-AE1B-F00B-49DB0B204EB1}"/>
              </a:ext>
            </a:extLst>
          </p:cNvPr>
          <p:cNvSpPr txBox="1"/>
          <p:nvPr/>
        </p:nvSpPr>
        <p:spPr>
          <a:xfrm>
            <a:off x="1016000" y="6350000"/>
            <a:ext cx="14224000" cy="11079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This workflow gave us two advantages: speed and judgment.</a:t>
            </a:r>
          </a:p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We iterated aggressively, tracked what failed, and even won the competition award for the most submissions â€” not as brute force, but as disciplined learning.</a:t>
            </a:r>
          </a:p>
        </p:txBody>
      </p:sp>
    </p:spTree>
    <p:extLst>
      <p:ext uri="{BB962C8B-B14F-4D97-AF65-F5344CB8AC3E}">
        <p14:creationId xmlns:p14="http://schemas.microsoft.com/office/powerpoint/2010/main" val="268780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716283-8BB4-0150-C769-490C408DEA83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10A21-5ED2-4141-9E16-1365EF68C40B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89340-5BB7-0BD0-5A15-860C6B3C4D0F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562D7D-3D97-4458-5EFD-5DF4093B77D2}"/>
              </a:ext>
            </a:extLst>
          </p:cNvPr>
          <p:cNvSpPr txBox="1"/>
          <p:nvPr/>
        </p:nvSpPr>
        <p:spPr>
          <a:xfrm>
            <a:off x="889000" y="889000"/>
            <a:ext cx="11430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BCA4C-B71F-D53C-63AF-9144CC5443E1}"/>
              </a:ext>
            </a:extLst>
          </p:cNvPr>
          <p:cNvSpPr txBox="1"/>
          <p:nvPr/>
        </p:nvSpPr>
        <p:spPr>
          <a:xfrm>
            <a:off x="889000" y="1651000"/>
            <a:ext cx="12446000" cy="38472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900">
                <a:solidFill>
                  <a:srgbClr val="B6BCC4"/>
                </a:solidFill>
                <a:latin typeface="Segoe UI" panose="020B0502040204020203" pitchFamily="34" charset="0"/>
              </a:rPr>
              <a:t>Simple idea: combine movement, radar, and environmental context into one robust decision pipeline.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2DA04E-943B-DBBE-C9D4-6DC5C16F7EE2}"/>
              </a:ext>
            </a:extLst>
          </p:cNvPr>
          <p:cNvSpPr/>
          <p:nvPr/>
        </p:nvSpPr>
        <p:spPr>
          <a:xfrm>
            <a:off x="889000" y="3302000"/>
            <a:ext cx="2349500" cy="22860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9D637-4B6C-8934-FEE9-1CB0E124E44D}"/>
              </a:ext>
            </a:extLst>
          </p:cNvPr>
          <p:cNvSpPr txBox="1"/>
          <p:nvPr/>
        </p:nvSpPr>
        <p:spPr>
          <a:xfrm>
            <a:off x="1079500" y="3581400"/>
            <a:ext cx="19685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Inputs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A1289-DD01-F94F-5A63-4E5B416C940E}"/>
              </a:ext>
            </a:extLst>
          </p:cNvPr>
          <p:cNvSpPr txBox="1"/>
          <p:nvPr/>
        </p:nvSpPr>
        <p:spPr>
          <a:xfrm>
            <a:off x="1079500" y="4165600"/>
            <a:ext cx="1968500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Radar trajectories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+ external context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FD8FE2-D11A-0D43-D19E-929454653258}"/>
              </a:ext>
            </a:extLst>
          </p:cNvPr>
          <p:cNvSpPr/>
          <p:nvPr/>
        </p:nvSpPr>
        <p:spPr>
          <a:xfrm>
            <a:off x="4064000" y="3302000"/>
            <a:ext cx="2349500" cy="22860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FED56-1580-9750-6627-C5DDC6797C2E}"/>
              </a:ext>
            </a:extLst>
          </p:cNvPr>
          <p:cNvSpPr txBox="1"/>
          <p:nvPr/>
        </p:nvSpPr>
        <p:spPr>
          <a:xfrm>
            <a:off x="4254500" y="3581400"/>
            <a:ext cx="19685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Feature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4A424-3C01-6AD4-8C29-9D194CE7E643}"/>
              </a:ext>
            </a:extLst>
          </p:cNvPr>
          <p:cNvSpPr txBox="1"/>
          <p:nvPr/>
        </p:nvSpPr>
        <p:spPr>
          <a:xfrm>
            <a:off x="4254500" y="4165600"/>
            <a:ext cx="19685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Kinematics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Log-signatures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catch22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validated context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5D5CF6-A673-1F16-05C0-6FAC9F278434}"/>
              </a:ext>
            </a:extLst>
          </p:cNvPr>
          <p:cNvSpPr/>
          <p:nvPr/>
        </p:nvSpPr>
        <p:spPr>
          <a:xfrm>
            <a:off x="7239000" y="3302000"/>
            <a:ext cx="2349500" cy="22860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DB537-E5E3-7EC7-30D7-88BFEBAFB7A1}"/>
              </a:ext>
            </a:extLst>
          </p:cNvPr>
          <p:cNvSpPr txBox="1"/>
          <p:nvPr/>
        </p:nvSpPr>
        <p:spPr>
          <a:xfrm>
            <a:off x="7429500" y="3581400"/>
            <a:ext cx="19685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Models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8DA35-66F2-DE8F-2CEC-84172D415006}"/>
              </a:ext>
            </a:extLst>
          </p:cNvPr>
          <p:cNvSpPr txBox="1"/>
          <p:nvPr/>
        </p:nvSpPr>
        <p:spPr>
          <a:xfrm>
            <a:off x="7429500" y="4165600"/>
            <a:ext cx="19685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Ranking-aware ensemble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+ multiclass probability 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86E682-9576-3B47-A154-A54DFD027AD5}"/>
              </a:ext>
            </a:extLst>
          </p:cNvPr>
          <p:cNvSpPr/>
          <p:nvPr/>
        </p:nvSpPr>
        <p:spPr>
          <a:xfrm>
            <a:off x="10414000" y="3302000"/>
            <a:ext cx="2349500" cy="22860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5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208EC-DF4B-CD0B-8804-5F4607AAD253}"/>
              </a:ext>
            </a:extLst>
          </p:cNvPr>
          <p:cNvSpPr txBox="1"/>
          <p:nvPr/>
        </p:nvSpPr>
        <p:spPr>
          <a:xfrm>
            <a:off x="10604500" y="3581400"/>
            <a:ext cx="1968500" cy="40011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000" b="1">
                <a:solidFill>
                  <a:srgbClr val="F7F1E8"/>
                </a:solidFill>
                <a:latin typeface="Segoe UI Semibold" panose="020B0702040204020203" pitchFamily="34" charset="0"/>
              </a:rPr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8DCBC5-9C31-E00D-EDDC-28E6057DE1F3}"/>
              </a:ext>
            </a:extLst>
          </p:cNvPr>
          <p:cNvSpPr txBox="1"/>
          <p:nvPr/>
        </p:nvSpPr>
        <p:spPr>
          <a:xfrm>
            <a:off x="10604500" y="4165600"/>
            <a:ext cx="19685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Probabilistic bird-group ranking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for operator / ecologist review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A430770-9E31-B30B-6A6B-F071E3BBE00C}"/>
              </a:ext>
            </a:extLst>
          </p:cNvPr>
          <p:cNvSpPr/>
          <p:nvPr/>
        </p:nvSpPr>
        <p:spPr>
          <a:xfrm>
            <a:off x="3365500" y="42164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32949AD-119C-8F6B-312B-0BEA55769E9D}"/>
              </a:ext>
            </a:extLst>
          </p:cNvPr>
          <p:cNvSpPr/>
          <p:nvPr/>
        </p:nvSpPr>
        <p:spPr>
          <a:xfrm>
            <a:off x="6540500" y="42164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5C9A8D7-AF1C-4089-0726-9EF5E276E83A}"/>
              </a:ext>
            </a:extLst>
          </p:cNvPr>
          <p:cNvSpPr/>
          <p:nvPr/>
        </p:nvSpPr>
        <p:spPr>
          <a:xfrm>
            <a:off x="9715500" y="42164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ECF1C1-960E-5129-E723-6E1C2696ABA5}"/>
              </a:ext>
            </a:extLst>
          </p:cNvPr>
          <p:cNvSpPr/>
          <p:nvPr/>
        </p:nvSpPr>
        <p:spPr>
          <a:xfrm>
            <a:off x="13144500" y="3111500"/>
            <a:ext cx="2286000" cy="26670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E6022-371D-2930-585D-5019BFFF0C49}"/>
              </a:ext>
            </a:extLst>
          </p:cNvPr>
          <p:cNvSpPr txBox="1"/>
          <p:nvPr/>
        </p:nvSpPr>
        <p:spPr>
          <a:xfrm>
            <a:off x="13360400" y="3365500"/>
            <a:ext cx="1841500" cy="64633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800" b="1">
                <a:solidFill>
                  <a:srgbClr val="F7F1E8"/>
                </a:solidFill>
                <a:latin typeface="Segoe UI Semibold" panose="020B0702040204020203" pitchFamily="34" charset="0"/>
              </a:rPr>
              <a:t>Critical constraint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8207A-07E2-C3C7-1EF3-E21EAED65A4F}"/>
              </a:ext>
            </a:extLst>
          </p:cNvPr>
          <p:cNvSpPr txBox="1"/>
          <p:nvPr/>
        </p:nvSpPr>
        <p:spPr>
          <a:xfrm>
            <a:off x="13360400" y="3911600"/>
            <a:ext cx="1841500" cy="216982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The hard part was not only class imbalance.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It was month / seasonal shift.</a:t>
            </a:r>
          </a:p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So we designed for generalization, not just local score gains.</a:t>
            </a:r>
          </a:p>
        </p:txBody>
      </p:sp>
    </p:spTree>
    <p:extLst>
      <p:ext uri="{BB962C8B-B14F-4D97-AF65-F5344CB8AC3E}">
        <p14:creationId xmlns:p14="http://schemas.microsoft.com/office/powerpoint/2010/main" val="168088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A2E600-E07E-42AB-0BE2-FEF9D654F4E4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018FA1-373A-4B85-E24E-6374CE11DCBC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45710-7E71-C50E-0761-09E529328BED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796E7-FF35-8CD3-158E-DC0517148869}"/>
              </a:ext>
            </a:extLst>
          </p:cNvPr>
          <p:cNvSpPr txBox="1"/>
          <p:nvPr/>
        </p:nvSpPr>
        <p:spPr>
          <a:xfrm>
            <a:off x="889000" y="889000"/>
            <a:ext cx="11430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What actually moved the needle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F9765-EADE-2F7C-849B-06869D1D0E7C}"/>
              </a:ext>
            </a:extLst>
          </p:cNvPr>
          <p:cNvSpPr txBox="1"/>
          <p:nvPr/>
        </p:nvSpPr>
        <p:spPr>
          <a:xfrm>
            <a:off x="889000" y="1651000"/>
            <a:ext cx="12446000" cy="38472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900">
                <a:solidFill>
                  <a:srgbClr val="B6BCC4"/>
                </a:solidFill>
                <a:latin typeface="Segoe UI" panose="020B0502040204020203" pitchFamily="34" charset="0"/>
              </a:rPr>
              <a:t>Our best gains came from changing how we thought about the problem.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AF18CB-01A4-47B5-B315-C4A1219636FB}"/>
              </a:ext>
            </a:extLst>
          </p:cNvPr>
          <p:cNvSpPr/>
          <p:nvPr/>
        </p:nvSpPr>
        <p:spPr>
          <a:xfrm>
            <a:off x="889000" y="2794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B5483-5865-93F7-C9A4-4FE1C719AAA3}"/>
              </a:ext>
            </a:extLst>
          </p:cNvPr>
          <p:cNvSpPr txBox="1"/>
          <p:nvPr/>
        </p:nvSpPr>
        <p:spPr>
          <a:xfrm>
            <a:off x="1143000" y="3022600"/>
            <a:ext cx="3937000" cy="76944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1. Ranking, not just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3E6E2-5CEE-D831-63CB-04B4539D8C12}"/>
              </a:ext>
            </a:extLst>
          </p:cNvPr>
          <p:cNvSpPr txBox="1"/>
          <p:nvPr/>
        </p:nvSpPr>
        <p:spPr>
          <a:xfrm>
            <a:off x="1143000" y="3556000"/>
            <a:ext cx="39370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Macro-mAP rewards ordering. Once we treated this as a ranking problem, our modeling choices became much better aligned with the metric.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67A5EB-870E-01C0-20D3-5E48BB22DDB5}"/>
              </a:ext>
            </a:extLst>
          </p:cNvPr>
          <p:cNvSpPr/>
          <p:nvPr/>
        </p:nvSpPr>
        <p:spPr>
          <a:xfrm>
            <a:off x="5651500" y="2794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EF6EA-B8C5-C52E-8E70-F095C4683D05}"/>
              </a:ext>
            </a:extLst>
          </p:cNvPr>
          <p:cNvSpPr txBox="1"/>
          <p:nvPr/>
        </p:nvSpPr>
        <p:spPr>
          <a:xfrm>
            <a:off x="5905500" y="3022600"/>
            <a:ext cx="3937000" cy="76944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2. Shift was a first-class failure mode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75893-E3D7-760D-C0C3-6D5DC3EEE3C7}"/>
              </a:ext>
            </a:extLst>
          </p:cNvPr>
          <p:cNvSpPr txBox="1"/>
          <p:nvPr/>
        </p:nvSpPr>
        <p:spPr>
          <a:xfrm>
            <a:off x="5905500" y="3556000"/>
            <a:ext cx="39370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Some ideas looked good locally but collapsed across months. Honest validation changed our feature selection and model strategy.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46877C-8689-7224-6FA9-9404626998F8}"/>
              </a:ext>
            </a:extLst>
          </p:cNvPr>
          <p:cNvSpPr/>
          <p:nvPr/>
        </p:nvSpPr>
        <p:spPr>
          <a:xfrm>
            <a:off x="10414000" y="2794000"/>
            <a:ext cx="444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60FA5B-1B8D-D22E-2EF8-35D76FBC4D77}"/>
              </a:ext>
            </a:extLst>
          </p:cNvPr>
          <p:cNvSpPr txBox="1"/>
          <p:nvPr/>
        </p:nvSpPr>
        <p:spPr>
          <a:xfrm>
            <a:off x="10668000" y="3022600"/>
            <a:ext cx="3937000" cy="43088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3. Judgment beat tricks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60CBB-A33C-A3FF-E609-155B616954DA}"/>
              </a:ext>
            </a:extLst>
          </p:cNvPr>
          <p:cNvSpPr txBox="1"/>
          <p:nvPr/>
        </p:nvSpPr>
        <p:spPr>
          <a:xfrm>
            <a:off x="10668000" y="3556000"/>
            <a:ext cx="393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We rejected attractive but brittle methods and kept the pieces we could explain, defend, and realistically deploy.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C2D82-199E-A74F-61BE-EEBC0D9EAEA3}"/>
              </a:ext>
            </a:extLst>
          </p:cNvPr>
          <p:cNvSpPr txBox="1"/>
          <p:nvPr/>
        </p:nvSpPr>
        <p:spPr>
          <a:xfrm>
            <a:off x="1016000" y="6350000"/>
            <a:ext cx="14097000" cy="46166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400" b="1">
                <a:solidFill>
                  <a:srgbClr val="F7F1E8"/>
                </a:solidFill>
                <a:latin typeface="Segoe UI Semibold" panose="020B0702040204020203" pitchFamily="34" charset="0"/>
              </a:rPr>
              <a:t>That is the strongest message of our work: the workflow created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81493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CAB67E-0F7A-9B00-CC0E-A863420279CA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DE976F-2FF0-C259-6191-6D20CE7594BF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BAF6D-1AC9-50BE-7FC6-2EDB1ECC01CF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62417-84F5-7538-8FAE-27B310CFDF84}"/>
              </a:ext>
            </a:extLst>
          </p:cNvPr>
          <p:cNvSpPr txBox="1"/>
          <p:nvPr/>
        </p:nvSpPr>
        <p:spPr>
          <a:xfrm>
            <a:off x="889000" y="889000"/>
            <a:ext cx="11430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Why we trust this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5509B-65E0-504F-5C43-364FFAEDA873}"/>
              </a:ext>
            </a:extLst>
          </p:cNvPr>
          <p:cNvSpPr txBox="1"/>
          <p:nvPr/>
        </p:nvSpPr>
        <p:spPr>
          <a:xfrm>
            <a:off x="889000" y="1651000"/>
            <a:ext cx="12446000" cy="38472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900">
                <a:solidFill>
                  <a:srgbClr val="B6BCC4"/>
                </a:solidFill>
                <a:latin typeface="Segoe UI" panose="020B0502040204020203" pitchFamily="34" charset="0"/>
              </a:rPr>
              <a:t>We wanted a system we could explain to a jury, to domain experts, and to future operators.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1BA895-B8EB-0FDB-8F2B-F382CA4095EF}"/>
              </a:ext>
            </a:extLst>
          </p:cNvPr>
          <p:cNvSpPr/>
          <p:nvPr/>
        </p:nvSpPr>
        <p:spPr>
          <a:xfrm>
            <a:off x="889000" y="2794000"/>
            <a:ext cx="317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DAF18-A796-39FB-2135-BAA169E00EAB}"/>
              </a:ext>
            </a:extLst>
          </p:cNvPr>
          <p:cNvSpPr txBox="1"/>
          <p:nvPr/>
        </p:nvSpPr>
        <p:spPr>
          <a:xfrm>
            <a:off x="1143000" y="3022600"/>
            <a:ext cx="2667000" cy="76944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Finalist-level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B92D78-DD92-AD2F-3F7D-29606E313BCC}"/>
              </a:ext>
            </a:extLst>
          </p:cNvPr>
          <p:cNvSpPr txBox="1"/>
          <p:nvPr/>
        </p:nvSpPr>
        <p:spPr>
          <a:xfrm>
            <a:off x="1143000" y="3556000"/>
            <a:ext cx="2667000" cy="55399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Competitive enough to reach the AI Cup 2026 finals.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363EDB-B6D8-2A1F-5C4B-6F3AA4035F6A}"/>
              </a:ext>
            </a:extLst>
          </p:cNvPr>
          <p:cNvSpPr/>
          <p:nvPr/>
        </p:nvSpPr>
        <p:spPr>
          <a:xfrm>
            <a:off x="4381500" y="2794000"/>
            <a:ext cx="317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5BB4A-A8D7-B044-CF3D-6352C20EF246}"/>
              </a:ext>
            </a:extLst>
          </p:cNvPr>
          <p:cNvSpPr txBox="1"/>
          <p:nvPr/>
        </p:nvSpPr>
        <p:spPr>
          <a:xfrm>
            <a:off x="4635500" y="3022600"/>
            <a:ext cx="2667000" cy="76944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200+ tracked iterations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8921C-A2D5-34C2-B534-FEA1EA5DE715}"/>
              </a:ext>
            </a:extLst>
          </p:cNvPr>
          <p:cNvSpPr txBox="1"/>
          <p:nvPr/>
        </p:nvSpPr>
        <p:spPr>
          <a:xfrm>
            <a:off x="4635500" y="3556000"/>
            <a:ext cx="266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Our repo reflects broad exploration rather than one lucky run.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8EF844-D789-7D7B-33B0-ADDBE3B22F7A}"/>
              </a:ext>
            </a:extLst>
          </p:cNvPr>
          <p:cNvSpPr/>
          <p:nvPr/>
        </p:nvSpPr>
        <p:spPr>
          <a:xfrm>
            <a:off x="7874000" y="2794000"/>
            <a:ext cx="317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8801CE-4DCD-43D1-5B43-6FC87067DE9A}"/>
              </a:ext>
            </a:extLst>
          </p:cNvPr>
          <p:cNvSpPr txBox="1"/>
          <p:nvPr/>
        </p:nvSpPr>
        <p:spPr>
          <a:xfrm>
            <a:off x="8128000" y="3022600"/>
            <a:ext cx="2667000" cy="76944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Most submissions award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613274-C8E3-3437-A526-59DB344BF8AC}"/>
              </a:ext>
            </a:extLst>
          </p:cNvPr>
          <p:cNvSpPr txBox="1"/>
          <p:nvPr/>
        </p:nvSpPr>
        <p:spPr>
          <a:xfrm>
            <a:off x="8128000" y="3556000"/>
            <a:ext cx="266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A signal of disciplined throughput and rapid learning.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2B3D4B-C50D-1662-861E-8896C42702EB}"/>
              </a:ext>
            </a:extLst>
          </p:cNvPr>
          <p:cNvSpPr/>
          <p:nvPr/>
        </p:nvSpPr>
        <p:spPr>
          <a:xfrm>
            <a:off x="11366500" y="2794000"/>
            <a:ext cx="3175000" cy="2413000"/>
          </a:xfrm>
          <a:prstGeom prst="roundRect">
            <a:avLst/>
          </a:prstGeom>
          <a:solidFill>
            <a:srgbClr val="1C2127"/>
          </a:solidFill>
          <a:ln w="19050">
            <a:solidFill>
              <a:srgbClr val="FF5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08407-6397-5725-1D8F-E1B6624814FB}"/>
              </a:ext>
            </a:extLst>
          </p:cNvPr>
          <p:cNvSpPr txBox="1"/>
          <p:nvPr/>
        </p:nvSpPr>
        <p:spPr>
          <a:xfrm>
            <a:off x="11620500" y="3022600"/>
            <a:ext cx="2667000" cy="430887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Honest evaluation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AE3BD-C4D1-490C-C3DA-4B72E9EE6798}"/>
              </a:ext>
            </a:extLst>
          </p:cNvPr>
          <p:cNvSpPr txBox="1"/>
          <p:nvPr/>
        </p:nvSpPr>
        <p:spPr>
          <a:xfrm>
            <a:off x="11620500" y="3556000"/>
            <a:ext cx="2667000" cy="78483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500">
                <a:solidFill>
                  <a:srgbClr val="B6BCC4"/>
                </a:solidFill>
                <a:latin typeface="Segoe UI" panose="020B0502040204020203" pitchFamily="34" charset="0"/>
              </a:rPr>
              <a:t>Cross-month thinking reduced overclaiming and improved credibility.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DEB646-9DA3-6BAB-8AC4-0135D7B1DCC6}"/>
              </a:ext>
            </a:extLst>
          </p:cNvPr>
          <p:cNvSpPr txBox="1"/>
          <p:nvPr/>
        </p:nvSpPr>
        <p:spPr>
          <a:xfrm>
            <a:off x="1016000" y="6350000"/>
            <a:ext cx="14097000" cy="11079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The point is not that we solved everything.</a:t>
            </a:r>
          </a:p>
          <a:p>
            <a:r>
              <a:rPr lang="en-US" sz="2200" b="1">
                <a:solidFill>
                  <a:srgbClr val="F7F1E8"/>
                </a:solidFill>
                <a:latin typeface="Segoe UI Semibold" panose="020B0702040204020203" pitchFamily="34" charset="0"/>
              </a:rPr>
              <a:t>The point is that we built a stronger, more defendable system by combining experimentation discipline with deployment thinking.</a:t>
            </a:r>
          </a:p>
        </p:txBody>
      </p:sp>
    </p:spTree>
    <p:extLst>
      <p:ext uri="{BB962C8B-B14F-4D97-AF65-F5344CB8AC3E}">
        <p14:creationId xmlns:p14="http://schemas.microsoft.com/office/powerpoint/2010/main" val="2735017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C9566F-D150-17E8-3B09-EA0605B7E220}"/>
              </a:ext>
            </a:extLst>
          </p:cNvPr>
          <p:cNvSpPr/>
          <p:nvPr/>
        </p:nvSpPr>
        <p:spPr>
          <a:xfrm>
            <a:off x="0" y="0"/>
            <a:ext cx="16256000" cy="254000"/>
          </a:xfrm>
          <a:prstGeom prst="rect">
            <a:avLst/>
          </a:prstGeom>
          <a:solidFill>
            <a:srgbClr val="FF7A1A"/>
          </a:solidFill>
          <a:ln w="15875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570DF-994A-3E9B-3DB2-6333B013E20D}"/>
              </a:ext>
            </a:extLst>
          </p:cNvPr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19C5B7"/>
          </a:solidFill>
          <a:ln w="15875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4599B-E803-75AC-A87E-CD163D4E0B64}"/>
              </a:ext>
            </a:extLst>
          </p:cNvPr>
          <p:cNvSpPr txBox="1"/>
          <p:nvPr/>
        </p:nvSpPr>
        <p:spPr>
          <a:xfrm>
            <a:off x="13716000" y="381000"/>
            <a:ext cx="2032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it-IT" sz="1200" b="1">
                <a:solidFill>
                  <a:srgbClr val="B6BCC4"/>
                </a:solidFill>
                <a:latin typeface="Segoe UI" panose="020B0502040204020203" pitchFamily="34" charset="0"/>
              </a:rPr>
              <a:t>AI Cup 2026 finalist pitch</a:t>
            </a:r>
            <a:endParaRPr lang="en-US" sz="1200" b="1">
              <a:solidFill>
                <a:srgbClr val="B6BCC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F49E4-5F6B-06B6-5B2B-074F282142B4}"/>
              </a:ext>
            </a:extLst>
          </p:cNvPr>
          <p:cNvSpPr txBox="1"/>
          <p:nvPr/>
        </p:nvSpPr>
        <p:spPr>
          <a:xfrm>
            <a:off x="889000" y="889000"/>
            <a:ext cx="11430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800" b="1">
                <a:solidFill>
                  <a:srgbClr val="F7F1E8"/>
                </a:solidFill>
                <a:latin typeface="Segoe UI Semibold" panose="020B0702040204020203" pitchFamily="34" charset="0"/>
              </a:rPr>
              <a:t>How this gets used in the real world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8D62F-B57D-E012-B746-F176210AD3F5}"/>
              </a:ext>
            </a:extLst>
          </p:cNvPr>
          <p:cNvSpPr txBox="1"/>
          <p:nvPr/>
        </p:nvSpPr>
        <p:spPr>
          <a:xfrm>
            <a:off x="889000" y="1651000"/>
            <a:ext cx="12446000" cy="38472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900">
                <a:solidFill>
                  <a:srgbClr val="B6BCC4"/>
                </a:solidFill>
                <a:latin typeface="Segoe UI" panose="020B0502040204020203" pitchFamily="34" charset="0"/>
              </a:rPr>
              <a:t>The model is most valuable as decision support inside a monitoring and mitigation workflow.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266BA7-7B87-F344-6960-5E52E3FC795A}"/>
              </a:ext>
            </a:extLst>
          </p:cNvPr>
          <p:cNvSpPr/>
          <p:nvPr/>
        </p:nvSpPr>
        <p:spPr>
          <a:xfrm>
            <a:off x="889000" y="3238500"/>
            <a:ext cx="2540000" cy="12065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7A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DA31E-9955-95DB-262A-5C413E089D1E}"/>
              </a:ext>
            </a:extLst>
          </p:cNvPr>
          <p:cNvSpPr txBox="1"/>
          <p:nvPr/>
        </p:nvSpPr>
        <p:spPr>
          <a:xfrm>
            <a:off x="1079500" y="3657600"/>
            <a:ext cx="2159000" cy="35394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700" b="1">
                <a:solidFill>
                  <a:srgbClr val="F7F1E8"/>
                </a:solidFill>
                <a:latin typeface="Segoe UI Semibold" panose="020B0702040204020203" pitchFamily="34" charset="0"/>
              </a:rPr>
              <a:t>Radar monitoring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7F178A-1527-A888-0398-6760E6C9A442}"/>
              </a:ext>
            </a:extLst>
          </p:cNvPr>
          <p:cNvSpPr/>
          <p:nvPr/>
        </p:nvSpPr>
        <p:spPr>
          <a:xfrm>
            <a:off x="4064000" y="3238500"/>
            <a:ext cx="2540000" cy="12065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19C5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F368E7-75A6-F740-16D8-68AE68D1BF3C}"/>
              </a:ext>
            </a:extLst>
          </p:cNvPr>
          <p:cNvSpPr txBox="1"/>
          <p:nvPr/>
        </p:nvSpPr>
        <p:spPr>
          <a:xfrm>
            <a:off x="4254500" y="3657600"/>
            <a:ext cx="2159000" cy="61555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700" b="1">
                <a:solidFill>
                  <a:srgbClr val="F7F1E8"/>
                </a:solidFill>
                <a:latin typeface="Segoe UI Semibold" panose="020B0702040204020203" pitchFamily="34" charset="0"/>
              </a:rPr>
              <a:t>AI ranking + uncertainty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225C1A-7686-1378-9F7F-FAD1BE1326AA}"/>
              </a:ext>
            </a:extLst>
          </p:cNvPr>
          <p:cNvSpPr/>
          <p:nvPr/>
        </p:nvSpPr>
        <p:spPr>
          <a:xfrm>
            <a:off x="7239000" y="3238500"/>
            <a:ext cx="2540000" cy="12065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D1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CCE48-F682-8158-AB59-02605C0A1217}"/>
              </a:ext>
            </a:extLst>
          </p:cNvPr>
          <p:cNvSpPr txBox="1"/>
          <p:nvPr/>
        </p:nvSpPr>
        <p:spPr>
          <a:xfrm>
            <a:off x="7429500" y="3657600"/>
            <a:ext cx="2159000" cy="61555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700" b="1">
                <a:solidFill>
                  <a:srgbClr val="F7F1E8"/>
                </a:solidFill>
                <a:latin typeface="Segoe UI Semibold" panose="020B0702040204020203" pitchFamily="34" charset="0"/>
              </a:rPr>
              <a:t>Operator / ecologist review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8BA6AA-5A1A-DEE9-DD70-CC46AA0C320F}"/>
              </a:ext>
            </a:extLst>
          </p:cNvPr>
          <p:cNvSpPr/>
          <p:nvPr/>
        </p:nvSpPr>
        <p:spPr>
          <a:xfrm>
            <a:off x="10414000" y="3238500"/>
            <a:ext cx="2540000" cy="1206500"/>
          </a:xfrm>
          <a:prstGeom prst="roundRect">
            <a:avLst/>
          </a:prstGeom>
          <a:solidFill>
            <a:srgbClr val="1C2127"/>
          </a:solidFill>
          <a:ln w="20320">
            <a:solidFill>
              <a:srgbClr val="FF5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8CE4-F090-0613-7746-14FCEC7E7924}"/>
              </a:ext>
            </a:extLst>
          </p:cNvPr>
          <p:cNvSpPr txBox="1"/>
          <p:nvPr/>
        </p:nvSpPr>
        <p:spPr>
          <a:xfrm>
            <a:off x="10604500" y="3657600"/>
            <a:ext cx="2159000" cy="61555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1700" b="1">
                <a:solidFill>
                  <a:srgbClr val="F7F1E8"/>
                </a:solidFill>
                <a:latin typeface="Segoe UI Semibold" panose="020B0702040204020203" pitchFamily="34" charset="0"/>
              </a:rPr>
              <a:t>Targeted mitigation action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A518C4E-42F8-C318-CF7D-B1A8C6253CB2}"/>
              </a:ext>
            </a:extLst>
          </p:cNvPr>
          <p:cNvSpPr/>
          <p:nvPr/>
        </p:nvSpPr>
        <p:spPr>
          <a:xfrm>
            <a:off x="3429000" y="37592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FE635C4-09A7-1DDB-8D36-180026FCB75F}"/>
              </a:ext>
            </a:extLst>
          </p:cNvPr>
          <p:cNvSpPr/>
          <p:nvPr/>
        </p:nvSpPr>
        <p:spPr>
          <a:xfrm>
            <a:off x="6604000" y="37592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3A8216B-7BCD-4458-0FCE-7FE917959EF5}"/>
              </a:ext>
            </a:extLst>
          </p:cNvPr>
          <p:cNvSpPr/>
          <p:nvPr/>
        </p:nvSpPr>
        <p:spPr>
          <a:xfrm>
            <a:off x="9779000" y="3759200"/>
            <a:ext cx="482600" cy="482600"/>
          </a:xfrm>
          <a:prstGeom prst="rightArrow">
            <a:avLst/>
          </a:prstGeom>
          <a:solidFill>
            <a:srgbClr val="FF7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013C7-B2FC-C6B8-9D7E-76F773648571}"/>
              </a:ext>
            </a:extLst>
          </p:cNvPr>
          <p:cNvSpPr txBox="1"/>
          <p:nvPr/>
        </p:nvSpPr>
        <p:spPr>
          <a:xfrm>
            <a:off x="889000" y="5461000"/>
            <a:ext cx="14478000" cy="1692771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sz="2600" b="1">
                <a:solidFill>
                  <a:srgbClr val="F7F1E8"/>
                </a:solidFill>
                <a:latin typeface="Segoe UI Semibold" panose="020B0702040204020203" pitchFamily="34" charset="0"/>
              </a:rPr>
              <a:t>We believe the strength of our work is not only that it performs well,</a:t>
            </a:r>
          </a:p>
          <a:p>
            <a:r>
              <a:rPr lang="en-US" sz="2600" b="1">
                <a:solidFill>
                  <a:srgbClr val="F7F1E8"/>
                </a:solidFill>
                <a:latin typeface="Segoe UI Semibold" panose="020B0702040204020203" pitchFamily="34" charset="0"/>
              </a:rPr>
              <a:t>but that it is rigorous, ecologically grounded, and realistically deployable.</a:t>
            </a:r>
          </a:p>
          <a:p>
            <a:endParaRPr lang="en-US" sz="2600" b="1">
              <a:solidFill>
                <a:srgbClr val="F7F1E8"/>
              </a:solidFill>
              <a:latin typeface="Segoe UI Semibold" panose="020B0702040204020203" pitchFamily="34" charset="0"/>
            </a:endParaRPr>
          </a:p>
          <a:p>
            <a:r>
              <a:rPr lang="en-US" sz="2600" b="1">
                <a:solidFill>
                  <a:srgbClr val="F7F1E8"/>
                </a:solidFill>
                <a:latin typeface="Segoe UI Semibold" panose="020B0702040204020203" pitchFamily="34" charset="0"/>
              </a:rPr>
              <a:t>That is what we hope you remember about our team.</a:t>
            </a:r>
          </a:p>
        </p:txBody>
      </p:sp>
    </p:spTree>
    <p:extLst>
      <p:ext uri="{BB962C8B-B14F-4D97-AF65-F5344CB8AC3E}">
        <p14:creationId xmlns:p14="http://schemas.microsoft.com/office/powerpoint/2010/main" val="117937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On-screen Show (16:10)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Iftode</dc:creator>
  <cp:lastModifiedBy>George Iftode</cp:lastModifiedBy>
  <cp:revision>1</cp:revision>
  <dcterms:created xsi:type="dcterms:W3CDTF">2026-04-11T15:32:22Z</dcterms:created>
  <dcterms:modified xsi:type="dcterms:W3CDTF">2026-04-11T15:32:22Z</dcterms:modified>
</cp:coreProperties>
</file>